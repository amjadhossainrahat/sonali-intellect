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DM Sans Medium"/>
      <p:regular r:id="rId25"/>
      <p:bold r:id="rId26"/>
      <p:italic r:id="rId27"/>
      <p:boldItalic r:id="rId28"/>
    </p:embeddedFont>
    <p:embeddedFont>
      <p:font typeface="Merriweather"/>
      <p:regular r:id="rId29"/>
      <p:bold r:id="rId30"/>
      <p:italic r:id="rId31"/>
      <p:boldItalic r:id="rId32"/>
    </p:embeddedFont>
    <p:embeddedFont>
      <p:font typeface="DM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DMSansMedium-bold.fntdata"/><Relationship Id="rId25" Type="http://schemas.openxmlformats.org/officeDocument/2006/relationships/font" Target="fonts/DMSansMedium-regular.fntdata"/><Relationship Id="rId28" Type="http://schemas.openxmlformats.org/officeDocument/2006/relationships/font" Target="fonts/DMSansMedium-boldItalic.fntdata"/><Relationship Id="rId27" Type="http://schemas.openxmlformats.org/officeDocument/2006/relationships/font" Target="fonts/DMSans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italic.fntdata"/><Relationship Id="rId30" Type="http://schemas.openxmlformats.org/officeDocument/2006/relationships/font" Target="fonts/Merriweather-bold.fntdata"/><Relationship Id="rId11" Type="http://schemas.openxmlformats.org/officeDocument/2006/relationships/slide" Target="slides/slide5.xml"/><Relationship Id="rId33" Type="http://schemas.openxmlformats.org/officeDocument/2006/relationships/font" Target="fonts/DMSans-regular.fntdata"/><Relationship Id="rId10" Type="http://schemas.openxmlformats.org/officeDocument/2006/relationships/slide" Target="slides/slide4.xml"/><Relationship Id="rId32" Type="http://schemas.openxmlformats.org/officeDocument/2006/relationships/font" Target="fonts/Merriweather-boldItalic.fntdata"/><Relationship Id="rId13" Type="http://schemas.openxmlformats.org/officeDocument/2006/relationships/slide" Target="slides/slide7.xml"/><Relationship Id="rId35" Type="http://schemas.openxmlformats.org/officeDocument/2006/relationships/font" Target="fonts/DMSans-italic.fntdata"/><Relationship Id="rId12" Type="http://schemas.openxmlformats.org/officeDocument/2006/relationships/slide" Target="slides/slide6.xml"/><Relationship Id="rId34" Type="http://schemas.openxmlformats.org/officeDocument/2006/relationships/font" Target="fonts/DMSan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DM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d6dd955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d6dd955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bd6dd955aa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bd6dd955aa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d6dd955aa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d6dd955aa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d6dd955aa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bd6dd955aa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bd6dd955aa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bd6dd955aa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d6dd955aa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bd6dd955aa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d6dd955aa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bd6dd955aa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d6dd955aa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bd6dd955aa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bd6dd955aa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bd6dd955aa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bd6dd955aa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bd6dd955aa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d6dd955aa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bd6dd955aa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bd6dd955aa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bd6dd955aa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bd6dd955aa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bd6dd955aa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d6dd955aa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bd6dd955aa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bd6dd955aa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bd6dd955aa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d6dd955aa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bd6dd955aa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d6dd955aa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bd6dd955aa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bd6dd955aa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bd6dd955aa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3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ctrTitle"/>
          </p:nvPr>
        </p:nvSpPr>
        <p:spPr>
          <a:xfrm>
            <a:off x="196950" y="223825"/>
            <a:ext cx="87501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4700">
                <a:latin typeface="Arial"/>
                <a:ea typeface="Arial"/>
                <a:cs typeface="Arial"/>
                <a:sym typeface="Arial"/>
              </a:rPr>
              <a:t>Non-Functional Requirements (NFRs) &amp; Constraint</a:t>
            </a:r>
            <a:endParaRPr sz="9150"/>
          </a:p>
        </p:txBody>
      </p:sp>
      <p:sp>
        <p:nvSpPr>
          <p:cNvPr id="263" name="Google Shape;263;p44"/>
          <p:cNvSpPr txBox="1"/>
          <p:nvPr>
            <p:ph idx="2" type="subTitle"/>
          </p:nvPr>
        </p:nvSpPr>
        <p:spPr>
          <a:xfrm>
            <a:off x="196950" y="2171250"/>
            <a:ext cx="4128600" cy="27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Enable engineers to </a:t>
            </a:r>
            <a:r>
              <a:rPr b="1" lang="en" sz="23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reason from business outcomes to architectural decisions</a:t>
            </a:r>
            <a:r>
              <a:rPr lang="en" sz="23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 using NFRs and constraints – rather than copying reference architectures or patterns blindly.</a:t>
            </a:r>
            <a:endParaRPr sz="3050">
              <a:solidFill>
                <a:schemeClr val="accent3"/>
              </a:solidFill>
            </a:endParaRPr>
          </a:p>
        </p:txBody>
      </p:sp>
      <p:pic>
        <p:nvPicPr>
          <p:cNvPr descr="Blue and green wave pattern. " id="264" name="Google Shape;264;p44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797" l="0" r="0" t="797"/>
          <a:stretch/>
        </p:blipFill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45"/>
          <p:cNvSpPr txBox="1"/>
          <p:nvPr>
            <p:ph idx="1" type="body"/>
          </p:nvPr>
        </p:nvSpPr>
        <p:spPr>
          <a:xfrm>
            <a:off x="196950" y="196725"/>
            <a:ext cx="8525100" cy="7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000"/>
              <a:t>What Are Requirements, Really?</a:t>
            </a:r>
            <a:endParaRPr b="1" sz="4000"/>
          </a:p>
        </p:txBody>
      </p:sp>
      <p:sp>
        <p:nvSpPr>
          <p:cNvPr id="271" name="Google Shape;271;p45"/>
          <p:cNvSpPr txBox="1"/>
          <p:nvPr/>
        </p:nvSpPr>
        <p:spPr>
          <a:xfrm>
            <a:off x="516425" y="1840325"/>
            <a:ext cx="81663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Functional Requirements (FRs): </a:t>
            </a:r>
            <a:r>
              <a:rPr lang="en" sz="29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What the system does</a:t>
            </a:r>
            <a:endParaRPr sz="29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2" name="Google Shape;272;p45"/>
          <p:cNvSpPr txBox="1"/>
          <p:nvPr/>
        </p:nvSpPr>
        <p:spPr>
          <a:xfrm>
            <a:off x="516425" y="2742800"/>
            <a:ext cx="81663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Non-Functional Requirements (NFRs): </a:t>
            </a:r>
            <a:r>
              <a:rPr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How well the system does it</a:t>
            </a:r>
            <a:endParaRPr sz="2900">
              <a:solidFill>
                <a:schemeClr val="accen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3" name="Google Shape;273;p45"/>
          <p:cNvSpPr txBox="1"/>
          <p:nvPr/>
        </p:nvSpPr>
        <p:spPr>
          <a:xfrm>
            <a:off x="555750" y="3936950"/>
            <a:ext cx="79539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Constraints:</a:t>
            </a:r>
            <a:r>
              <a:rPr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 What the system </a:t>
            </a:r>
            <a:r>
              <a:rPr i="1"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must</a:t>
            </a:r>
            <a:r>
              <a:rPr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 or </a:t>
            </a:r>
            <a:r>
              <a:rPr i="1"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must not</a:t>
            </a:r>
            <a:r>
              <a:rPr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 do</a:t>
            </a:r>
            <a:endParaRPr b="1" sz="2900">
              <a:solidFill>
                <a:schemeClr val="accen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4" name="Google Shape;274;p45"/>
          <p:cNvSpPr txBox="1"/>
          <p:nvPr/>
        </p:nvSpPr>
        <p:spPr>
          <a:xfrm>
            <a:off x="196954" y="2152567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5" name="Google Shape;275;p45"/>
          <p:cNvSpPr txBox="1"/>
          <p:nvPr/>
        </p:nvSpPr>
        <p:spPr>
          <a:xfrm>
            <a:off x="196954" y="31021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accen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6" name="Google Shape;276;p45"/>
          <p:cNvSpPr txBox="1"/>
          <p:nvPr/>
        </p:nvSpPr>
        <p:spPr>
          <a:xfrm>
            <a:off x="196954" y="42719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accen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7" name="Google Shape;277;p45"/>
          <p:cNvSpPr txBox="1"/>
          <p:nvPr/>
        </p:nvSpPr>
        <p:spPr>
          <a:xfrm>
            <a:off x="588750" y="1069600"/>
            <a:ext cx="792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hlink"/>
                </a:solidFill>
              </a:rPr>
              <a:t>Requirements define </a:t>
            </a:r>
            <a:r>
              <a:rPr i="1" lang="en" sz="2100">
                <a:solidFill>
                  <a:schemeClr val="hlink"/>
                </a:solidFill>
              </a:rPr>
              <a:t>what</a:t>
            </a:r>
            <a:r>
              <a:rPr lang="en" sz="2100">
                <a:solidFill>
                  <a:schemeClr val="hlink"/>
                </a:solidFill>
              </a:rPr>
              <a:t> success looks like, not </a:t>
            </a:r>
            <a:r>
              <a:rPr i="1" lang="en" sz="2100">
                <a:solidFill>
                  <a:schemeClr val="hlink"/>
                </a:solidFill>
              </a:rPr>
              <a:t>how</a:t>
            </a:r>
            <a:r>
              <a:rPr lang="en" sz="2100">
                <a:solidFill>
                  <a:schemeClr val="hlink"/>
                </a:solidFill>
              </a:rPr>
              <a:t> to build it.</a:t>
            </a:r>
            <a:endParaRPr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46"/>
          <p:cNvSpPr txBox="1"/>
          <p:nvPr>
            <p:ph idx="1" type="body"/>
          </p:nvPr>
        </p:nvSpPr>
        <p:spPr>
          <a:xfrm>
            <a:off x="196950" y="196725"/>
            <a:ext cx="8525100" cy="7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000"/>
              <a:t>What Are Requirements, Really?</a:t>
            </a:r>
            <a:endParaRPr b="1" sz="4000"/>
          </a:p>
        </p:txBody>
      </p:sp>
      <p:sp>
        <p:nvSpPr>
          <p:cNvPr id="284" name="Google Shape;284;p46"/>
          <p:cNvSpPr txBox="1"/>
          <p:nvPr/>
        </p:nvSpPr>
        <p:spPr>
          <a:xfrm>
            <a:off x="516425" y="1840325"/>
            <a:ext cx="81663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5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Functional Requirements (FRs): </a:t>
            </a:r>
            <a:r>
              <a:rPr lang="en" sz="295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What the system does</a:t>
            </a:r>
            <a:endParaRPr sz="2950">
              <a:solidFill>
                <a:schemeClr val="accen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5" name="Google Shape;285;p46"/>
          <p:cNvSpPr txBox="1"/>
          <p:nvPr/>
        </p:nvSpPr>
        <p:spPr>
          <a:xfrm>
            <a:off x="516425" y="2742800"/>
            <a:ext cx="81663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Non-Functional Requirements (NFRs): </a:t>
            </a:r>
            <a:r>
              <a:rPr lang="en" sz="2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How well the system does it</a:t>
            </a:r>
            <a:endParaRPr sz="29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6" name="Google Shape;286;p46"/>
          <p:cNvSpPr txBox="1"/>
          <p:nvPr/>
        </p:nvSpPr>
        <p:spPr>
          <a:xfrm>
            <a:off x="555750" y="3936950"/>
            <a:ext cx="79539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Constraints:</a:t>
            </a:r>
            <a:r>
              <a:rPr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 What the system </a:t>
            </a:r>
            <a:r>
              <a:rPr i="1"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must</a:t>
            </a:r>
            <a:r>
              <a:rPr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 or </a:t>
            </a:r>
            <a:r>
              <a:rPr i="1"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must not</a:t>
            </a:r>
            <a:r>
              <a:rPr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 do</a:t>
            </a:r>
            <a:endParaRPr b="1" sz="2900">
              <a:solidFill>
                <a:schemeClr val="accen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7" name="Google Shape;287;p46"/>
          <p:cNvSpPr txBox="1"/>
          <p:nvPr/>
        </p:nvSpPr>
        <p:spPr>
          <a:xfrm>
            <a:off x="196954" y="2152567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8" name="Google Shape;288;p46"/>
          <p:cNvSpPr txBox="1"/>
          <p:nvPr/>
        </p:nvSpPr>
        <p:spPr>
          <a:xfrm>
            <a:off x="196954" y="31021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accen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9" name="Google Shape;289;p46"/>
          <p:cNvSpPr txBox="1"/>
          <p:nvPr/>
        </p:nvSpPr>
        <p:spPr>
          <a:xfrm>
            <a:off x="196954" y="42719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accen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0" name="Google Shape;290;p46"/>
          <p:cNvSpPr txBox="1"/>
          <p:nvPr/>
        </p:nvSpPr>
        <p:spPr>
          <a:xfrm>
            <a:off x="588750" y="1069600"/>
            <a:ext cx="792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hlink"/>
                </a:solidFill>
              </a:rPr>
              <a:t>Requirements define </a:t>
            </a:r>
            <a:r>
              <a:rPr i="1" lang="en" sz="2100">
                <a:solidFill>
                  <a:schemeClr val="hlink"/>
                </a:solidFill>
              </a:rPr>
              <a:t>what</a:t>
            </a:r>
            <a:r>
              <a:rPr lang="en" sz="2100">
                <a:solidFill>
                  <a:schemeClr val="hlink"/>
                </a:solidFill>
              </a:rPr>
              <a:t> success looks like, not </a:t>
            </a:r>
            <a:r>
              <a:rPr i="1" lang="en" sz="2100">
                <a:solidFill>
                  <a:schemeClr val="hlink"/>
                </a:solidFill>
              </a:rPr>
              <a:t>how</a:t>
            </a:r>
            <a:r>
              <a:rPr lang="en" sz="2100">
                <a:solidFill>
                  <a:schemeClr val="hlink"/>
                </a:solidFill>
              </a:rPr>
              <a:t> to build it.</a:t>
            </a:r>
            <a:endParaRPr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47"/>
          <p:cNvSpPr txBox="1"/>
          <p:nvPr>
            <p:ph idx="1" type="body"/>
          </p:nvPr>
        </p:nvSpPr>
        <p:spPr>
          <a:xfrm>
            <a:off x="196950" y="196725"/>
            <a:ext cx="8525100" cy="7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000"/>
              <a:t>What Are Requirements, Really?</a:t>
            </a:r>
            <a:endParaRPr b="1" sz="4000"/>
          </a:p>
        </p:txBody>
      </p:sp>
      <p:sp>
        <p:nvSpPr>
          <p:cNvPr id="297" name="Google Shape;297;p47"/>
          <p:cNvSpPr txBox="1"/>
          <p:nvPr/>
        </p:nvSpPr>
        <p:spPr>
          <a:xfrm>
            <a:off x="516425" y="1840325"/>
            <a:ext cx="81663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5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Functional Requirements (FRs): </a:t>
            </a:r>
            <a:r>
              <a:rPr lang="en" sz="295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What the system does</a:t>
            </a:r>
            <a:endParaRPr sz="2950">
              <a:solidFill>
                <a:schemeClr val="accen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8" name="Google Shape;298;p47"/>
          <p:cNvSpPr txBox="1"/>
          <p:nvPr/>
        </p:nvSpPr>
        <p:spPr>
          <a:xfrm>
            <a:off x="516425" y="3175357"/>
            <a:ext cx="81663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Non-Functional Requirements (NFRs): </a:t>
            </a:r>
            <a:r>
              <a:rPr lang="en" sz="29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How well the system does it</a:t>
            </a:r>
            <a:endParaRPr sz="2900">
              <a:solidFill>
                <a:schemeClr val="accen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9" name="Google Shape;299;p47"/>
          <p:cNvSpPr txBox="1"/>
          <p:nvPr/>
        </p:nvSpPr>
        <p:spPr>
          <a:xfrm>
            <a:off x="196954" y="2152567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00" name="Google Shape;300;p47"/>
          <p:cNvSpPr txBox="1"/>
          <p:nvPr/>
        </p:nvSpPr>
        <p:spPr>
          <a:xfrm>
            <a:off x="196954" y="3534752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accen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01" name="Google Shape;301;p47"/>
          <p:cNvSpPr txBox="1"/>
          <p:nvPr/>
        </p:nvSpPr>
        <p:spPr>
          <a:xfrm>
            <a:off x="588750" y="1069600"/>
            <a:ext cx="792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hlink"/>
                </a:solidFill>
              </a:rPr>
              <a:t>Requirements define </a:t>
            </a:r>
            <a:r>
              <a:rPr i="1" lang="en" sz="2100">
                <a:solidFill>
                  <a:schemeClr val="hlink"/>
                </a:solidFill>
              </a:rPr>
              <a:t>what</a:t>
            </a:r>
            <a:r>
              <a:rPr lang="en" sz="2100">
                <a:solidFill>
                  <a:schemeClr val="hlink"/>
                </a:solidFill>
              </a:rPr>
              <a:t> success looks like, not </a:t>
            </a:r>
            <a:r>
              <a:rPr i="1" lang="en" sz="2100">
                <a:solidFill>
                  <a:schemeClr val="hlink"/>
                </a:solidFill>
              </a:rPr>
              <a:t>how</a:t>
            </a:r>
            <a:r>
              <a:rPr lang="en" sz="2100">
                <a:solidFill>
                  <a:schemeClr val="hlink"/>
                </a:solidFill>
              </a:rPr>
              <a:t> to build it.</a:t>
            </a:r>
            <a:endParaRPr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48"/>
          <p:cNvSpPr txBox="1"/>
          <p:nvPr>
            <p:ph idx="1" type="body"/>
          </p:nvPr>
        </p:nvSpPr>
        <p:spPr>
          <a:xfrm>
            <a:off x="203000" y="891450"/>
            <a:ext cx="330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/>
              <a:t>Functional Examples</a:t>
            </a:r>
            <a:endParaRPr sz="2100"/>
          </a:p>
        </p:txBody>
      </p:sp>
      <p:sp>
        <p:nvSpPr>
          <p:cNvPr id="308" name="Google Shape;308;p48"/>
          <p:cNvSpPr txBox="1"/>
          <p:nvPr>
            <p:ph idx="2" type="body"/>
          </p:nvPr>
        </p:nvSpPr>
        <p:spPr>
          <a:xfrm>
            <a:off x="203000" y="1320450"/>
            <a:ext cx="3304800" cy="6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User can place a Transfer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System calculates tax</a:t>
            </a:r>
            <a:endParaRPr sz="1300"/>
          </a:p>
        </p:txBody>
      </p:sp>
      <p:sp>
        <p:nvSpPr>
          <p:cNvPr id="309" name="Google Shape;309;p48"/>
          <p:cNvSpPr txBox="1"/>
          <p:nvPr>
            <p:ph idx="31" type="body"/>
          </p:nvPr>
        </p:nvSpPr>
        <p:spPr>
          <a:xfrm>
            <a:off x="196950" y="196725"/>
            <a:ext cx="8650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/>
              <a:t>Functional vs Non-Functional Requirements</a:t>
            </a:r>
            <a:endParaRPr b="1"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49"/>
          <p:cNvSpPr txBox="1"/>
          <p:nvPr>
            <p:ph idx="1" type="body"/>
          </p:nvPr>
        </p:nvSpPr>
        <p:spPr>
          <a:xfrm>
            <a:off x="203000" y="891450"/>
            <a:ext cx="330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/>
              <a:t>Functional Examples</a:t>
            </a:r>
            <a:endParaRPr sz="2100"/>
          </a:p>
        </p:txBody>
      </p:sp>
      <p:sp>
        <p:nvSpPr>
          <p:cNvPr id="316" name="Google Shape;316;p49"/>
          <p:cNvSpPr txBox="1"/>
          <p:nvPr>
            <p:ph idx="2" type="body"/>
          </p:nvPr>
        </p:nvSpPr>
        <p:spPr>
          <a:xfrm>
            <a:off x="203000" y="1320450"/>
            <a:ext cx="3304800" cy="6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User can place a Transfer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System calculates tax</a:t>
            </a:r>
            <a:endParaRPr sz="1300"/>
          </a:p>
        </p:txBody>
      </p:sp>
      <p:sp>
        <p:nvSpPr>
          <p:cNvPr id="317" name="Google Shape;317;p49"/>
          <p:cNvSpPr txBox="1"/>
          <p:nvPr>
            <p:ph idx="31" type="body"/>
          </p:nvPr>
        </p:nvSpPr>
        <p:spPr>
          <a:xfrm>
            <a:off x="196950" y="196725"/>
            <a:ext cx="8650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/>
              <a:t>Functional vs Non-Functional Requirements</a:t>
            </a:r>
            <a:endParaRPr b="1" sz="3000"/>
          </a:p>
        </p:txBody>
      </p:sp>
      <p:sp>
        <p:nvSpPr>
          <p:cNvPr id="318" name="Google Shape;318;p49"/>
          <p:cNvSpPr txBox="1"/>
          <p:nvPr>
            <p:ph idx="22" type="body"/>
          </p:nvPr>
        </p:nvSpPr>
        <p:spPr>
          <a:xfrm>
            <a:off x="298425" y="2772415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n" sz="2100"/>
              <a:t>Anti-Pattern</a:t>
            </a:r>
            <a:endParaRPr sz="2100"/>
          </a:p>
        </p:txBody>
      </p:sp>
      <p:sp>
        <p:nvSpPr>
          <p:cNvPr id="319" name="Google Shape;319;p49"/>
          <p:cNvSpPr txBox="1"/>
          <p:nvPr>
            <p:ph idx="23" type="body"/>
          </p:nvPr>
        </p:nvSpPr>
        <p:spPr>
          <a:xfrm>
            <a:off x="298425" y="3201393"/>
            <a:ext cx="2644800" cy="123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 system should be: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Fast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Scalable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secure</a:t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50"/>
          <p:cNvSpPr txBox="1"/>
          <p:nvPr>
            <p:ph idx="1" type="body"/>
          </p:nvPr>
        </p:nvSpPr>
        <p:spPr>
          <a:xfrm>
            <a:off x="203000" y="891450"/>
            <a:ext cx="330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/>
              <a:t>Functional Examples</a:t>
            </a:r>
            <a:endParaRPr sz="2100"/>
          </a:p>
        </p:txBody>
      </p:sp>
      <p:sp>
        <p:nvSpPr>
          <p:cNvPr id="326" name="Google Shape;326;p50"/>
          <p:cNvSpPr txBox="1"/>
          <p:nvPr>
            <p:ph idx="2" type="body"/>
          </p:nvPr>
        </p:nvSpPr>
        <p:spPr>
          <a:xfrm>
            <a:off x="203000" y="1320450"/>
            <a:ext cx="3304800" cy="6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User can place a Transfer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System calculates tax</a:t>
            </a:r>
            <a:endParaRPr sz="1300"/>
          </a:p>
        </p:txBody>
      </p:sp>
      <p:sp>
        <p:nvSpPr>
          <p:cNvPr id="327" name="Google Shape;327;p50"/>
          <p:cNvSpPr txBox="1"/>
          <p:nvPr>
            <p:ph idx="22" type="body"/>
          </p:nvPr>
        </p:nvSpPr>
        <p:spPr>
          <a:xfrm>
            <a:off x="4572000" y="9289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n" sz="2100"/>
              <a:t>Standard Practice</a:t>
            </a:r>
            <a:endParaRPr sz="2100"/>
          </a:p>
        </p:txBody>
      </p:sp>
      <p:sp>
        <p:nvSpPr>
          <p:cNvPr id="328" name="Google Shape;328;p50"/>
          <p:cNvSpPr txBox="1"/>
          <p:nvPr>
            <p:ph idx="23" type="body"/>
          </p:nvPr>
        </p:nvSpPr>
        <p:spPr>
          <a:xfrm>
            <a:off x="4572000" y="1357950"/>
            <a:ext cx="2644800" cy="6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hlink"/>
                </a:solidFill>
              </a:rPr>
              <a:t>NFRs must be </a:t>
            </a:r>
            <a:r>
              <a:rPr i="1" lang="en" sz="1300">
                <a:solidFill>
                  <a:schemeClr val="hlink"/>
                </a:solidFill>
              </a:rPr>
              <a:t>measurable, testable, and time-bound</a:t>
            </a:r>
            <a:endParaRPr sz="1500"/>
          </a:p>
        </p:txBody>
      </p:sp>
      <p:sp>
        <p:nvSpPr>
          <p:cNvPr id="329" name="Google Shape;329;p50"/>
          <p:cNvSpPr txBox="1"/>
          <p:nvPr>
            <p:ph idx="31" type="body"/>
          </p:nvPr>
        </p:nvSpPr>
        <p:spPr>
          <a:xfrm>
            <a:off x="196950" y="196725"/>
            <a:ext cx="8650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/>
              <a:t>Functional vs Non-Functional Requirements</a:t>
            </a:r>
            <a:endParaRPr b="1" sz="3000"/>
          </a:p>
        </p:txBody>
      </p:sp>
      <p:sp>
        <p:nvSpPr>
          <p:cNvPr id="330" name="Google Shape;330;p50"/>
          <p:cNvSpPr txBox="1"/>
          <p:nvPr>
            <p:ph idx="22" type="body"/>
          </p:nvPr>
        </p:nvSpPr>
        <p:spPr>
          <a:xfrm>
            <a:off x="298425" y="2772415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n" sz="2100"/>
              <a:t>Anti-Pattern</a:t>
            </a:r>
            <a:endParaRPr sz="2100"/>
          </a:p>
        </p:txBody>
      </p:sp>
      <p:sp>
        <p:nvSpPr>
          <p:cNvPr id="331" name="Google Shape;331;p50"/>
          <p:cNvSpPr txBox="1"/>
          <p:nvPr>
            <p:ph idx="23" type="body"/>
          </p:nvPr>
        </p:nvSpPr>
        <p:spPr>
          <a:xfrm>
            <a:off x="298425" y="3201393"/>
            <a:ext cx="2644800" cy="123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 system should be: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Fast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Scalable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secure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51"/>
          <p:cNvSpPr txBox="1"/>
          <p:nvPr>
            <p:ph idx="1" type="body"/>
          </p:nvPr>
        </p:nvSpPr>
        <p:spPr>
          <a:xfrm>
            <a:off x="203000" y="891450"/>
            <a:ext cx="330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/>
              <a:t>Functional Examples</a:t>
            </a:r>
            <a:endParaRPr sz="2100"/>
          </a:p>
        </p:txBody>
      </p:sp>
      <p:sp>
        <p:nvSpPr>
          <p:cNvPr id="338" name="Google Shape;338;p51"/>
          <p:cNvSpPr txBox="1"/>
          <p:nvPr>
            <p:ph idx="2" type="body"/>
          </p:nvPr>
        </p:nvSpPr>
        <p:spPr>
          <a:xfrm>
            <a:off x="203000" y="1320450"/>
            <a:ext cx="3304800" cy="6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User can place a Transfer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System calculates tax</a:t>
            </a:r>
            <a:endParaRPr sz="1300"/>
          </a:p>
        </p:txBody>
      </p:sp>
      <p:sp>
        <p:nvSpPr>
          <p:cNvPr id="339" name="Google Shape;339;p51"/>
          <p:cNvSpPr txBox="1"/>
          <p:nvPr>
            <p:ph idx="4" type="body"/>
          </p:nvPr>
        </p:nvSpPr>
        <p:spPr>
          <a:xfrm>
            <a:off x="4572000" y="2166550"/>
            <a:ext cx="38409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n" sz="2100"/>
              <a:t>Non-Functional Examples</a:t>
            </a:r>
            <a:endParaRPr sz="2100"/>
          </a:p>
        </p:txBody>
      </p:sp>
      <p:sp>
        <p:nvSpPr>
          <p:cNvPr id="340" name="Google Shape;340;p51"/>
          <p:cNvSpPr txBox="1"/>
          <p:nvPr>
            <p:ph idx="5" type="body"/>
          </p:nvPr>
        </p:nvSpPr>
        <p:spPr>
          <a:xfrm>
            <a:off x="4572000" y="2595550"/>
            <a:ext cx="4044000" cy="17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Transfer placement completes in &lt; 200 ms (</a:t>
            </a:r>
            <a:r>
              <a:rPr b="1" lang="en" sz="1300"/>
              <a:t>p95</a:t>
            </a:r>
            <a:r>
              <a:rPr lang="en" sz="1300"/>
              <a:t>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Internal transfers completes in &lt; 1 Seconds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System handles 10k concurrent users in Peak-hour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Data is encrypted at rest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300"/>
              <a:t>Question: What is</a:t>
            </a:r>
            <a:r>
              <a:rPr lang="en" sz="1300"/>
              <a:t> </a:t>
            </a:r>
            <a:r>
              <a:rPr b="1" lang="en" sz="1300"/>
              <a:t>p95</a:t>
            </a:r>
            <a:r>
              <a:rPr lang="en" sz="1300"/>
              <a:t> ?</a:t>
            </a:r>
            <a:endParaRPr sz="1300"/>
          </a:p>
        </p:txBody>
      </p:sp>
      <p:sp>
        <p:nvSpPr>
          <p:cNvPr id="341" name="Google Shape;341;p51"/>
          <p:cNvSpPr txBox="1"/>
          <p:nvPr>
            <p:ph idx="22" type="body"/>
          </p:nvPr>
        </p:nvSpPr>
        <p:spPr>
          <a:xfrm>
            <a:off x="4572000" y="9289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n" sz="2100"/>
              <a:t>Standard Practice</a:t>
            </a:r>
            <a:endParaRPr sz="2100"/>
          </a:p>
        </p:txBody>
      </p:sp>
      <p:sp>
        <p:nvSpPr>
          <p:cNvPr id="342" name="Google Shape;342;p51"/>
          <p:cNvSpPr txBox="1"/>
          <p:nvPr>
            <p:ph idx="23" type="body"/>
          </p:nvPr>
        </p:nvSpPr>
        <p:spPr>
          <a:xfrm>
            <a:off x="4572000" y="1357950"/>
            <a:ext cx="2644800" cy="6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hlink"/>
                </a:solidFill>
              </a:rPr>
              <a:t>NFRs must be </a:t>
            </a:r>
            <a:r>
              <a:rPr i="1" lang="en" sz="1300">
                <a:solidFill>
                  <a:schemeClr val="hlink"/>
                </a:solidFill>
              </a:rPr>
              <a:t>measurable, testable, and time-bound</a:t>
            </a:r>
            <a:endParaRPr sz="1500"/>
          </a:p>
        </p:txBody>
      </p:sp>
      <p:sp>
        <p:nvSpPr>
          <p:cNvPr id="343" name="Google Shape;343;p51"/>
          <p:cNvSpPr txBox="1"/>
          <p:nvPr>
            <p:ph idx="31" type="body"/>
          </p:nvPr>
        </p:nvSpPr>
        <p:spPr>
          <a:xfrm>
            <a:off x="196950" y="196725"/>
            <a:ext cx="8650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/>
              <a:t>Functional vs Non-Functional Requirements</a:t>
            </a:r>
            <a:endParaRPr b="1" sz="3000"/>
          </a:p>
        </p:txBody>
      </p:sp>
      <p:sp>
        <p:nvSpPr>
          <p:cNvPr id="344" name="Google Shape;344;p51"/>
          <p:cNvSpPr txBox="1"/>
          <p:nvPr>
            <p:ph idx="22" type="body"/>
          </p:nvPr>
        </p:nvSpPr>
        <p:spPr>
          <a:xfrm>
            <a:off x="298425" y="2772415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n" sz="2100"/>
              <a:t>Anti-Pattern</a:t>
            </a:r>
            <a:endParaRPr sz="2100"/>
          </a:p>
        </p:txBody>
      </p:sp>
      <p:sp>
        <p:nvSpPr>
          <p:cNvPr id="345" name="Google Shape;345;p51"/>
          <p:cNvSpPr txBox="1"/>
          <p:nvPr>
            <p:ph idx="23" type="body"/>
          </p:nvPr>
        </p:nvSpPr>
        <p:spPr>
          <a:xfrm>
            <a:off x="298425" y="3201393"/>
            <a:ext cx="2644800" cy="123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 system should be: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Fast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Scalable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secure</a:t>
            </a:r>
            <a:endParaRPr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52"/>
          <p:cNvSpPr txBox="1"/>
          <p:nvPr>
            <p:ph idx="31" type="body"/>
          </p:nvPr>
        </p:nvSpPr>
        <p:spPr>
          <a:xfrm>
            <a:off x="196950" y="196725"/>
            <a:ext cx="8650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/>
              <a:t>Categories of</a:t>
            </a:r>
            <a:r>
              <a:rPr b="1" lang="en" sz="3000"/>
              <a:t> Non-Functional Requirements</a:t>
            </a:r>
            <a:endParaRPr b="1" sz="3000"/>
          </a:p>
        </p:txBody>
      </p:sp>
      <p:sp>
        <p:nvSpPr>
          <p:cNvPr id="352" name="Google Shape;352;p52"/>
          <p:cNvSpPr txBox="1"/>
          <p:nvPr/>
        </p:nvSpPr>
        <p:spPr>
          <a:xfrm>
            <a:off x="424700" y="1085325"/>
            <a:ext cx="8047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M Sans"/>
              <a:buChar char="●"/>
            </a:pPr>
            <a:r>
              <a:rPr lang="en" sz="3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Performance (latency, throughput)</a:t>
            </a:r>
            <a:endParaRPr sz="3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M Sans"/>
              <a:buChar char="●"/>
            </a:pPr>
            <a:r>
              <a:rPr lang="en" sz="3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Availability &amp; Reliability</a:t>
            </a:r>
            <a:endParaRPr sz="3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M Sans"/>
              <a:buChar char="●"/>
            </a:pPr>
            <a:r>
              <a:rPr lang="en" sz="3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Scalability</a:t>
            </a:r>
            <a:endParaRPr sz="3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M Sans"/>
              <a:buChar char="●"/>
            </a:pPr>
            <a:r>
              <a:rPr lang="en" sz="3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Security &amp; Privacy</a:t>
            </a:r>
            <a:endParaRPr sz="3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M Sans"/>
              <a:buChar char="●"/>
            </a:pPr>
            <a:r>
              <a:rPr lang="en" sz="3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Maintainability &amp; Operability</a:t>
            </a:r>
            <a:endParaRPr sz="3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M Sans"/>
              <a:buChar char="●"/>
            </a:pPr>
            <a:r>
              <a:rPr lang="en" sz="3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Cost &amp; Efficiency</a:t>
            </a:r>
            <a:endParaRPr sz="3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M Sans"/>
              <a:buChar char="●"/>
            </a:pPr>
            <a:r>
              <a:rPr lang="en" sz="3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Compliance &amp; Legal</a:t>
            </a:r>
            <a:endParaRPr sz="3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53"/>
          <p:cNvSpPr txBox="1"/>
          <p:nvPr>
            <p:ph idx="31" type="body"/>
          </p:nvPr>
        </p:nvSpPr>
        <p:spPr>
          <a:xfrm>
            <a:off x="196950" y="196725"/>
            <a:ext cx="8650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/>
              <a:t>Latency, Throughput, and Consistency</a:t>
            </a:r>
            <a:endParaRPr b="1" sz="3000"/>
          </a:p>
        </p:txBody>
      </p:sp>
      <p:sp>
        <p:nvSpPr>
          <p:cNvPr id="359" name="Google Shape;359;p53"/>
          <p:cNvSpPr txBox="1"/>
          <p:nvPr/>
        </p:nvSpPr>
        <p:spPr>
          <a:xfrm>
            <a:off x="197000" y="1399912"/>
            <a:ext cx="86508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M Sans"/>
              <a:buChar char="●"/>
            </a:pPr>
            <a:r>
              <a:rPr b="1" lang="en" sz="3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Latency</a:t>
            </a:r>
            <a:r>
              <a:rPr lang="en" sz="3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: time to serve a request</a:t>
            </a:r>
            <a:br>
              <a:rPr lang="en" sz="3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3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M Sans"/>
              <a:buChar char="●"/>
            </a:pPr>
            <a:r>
              <a:rPr b="1" lang="en" sz="3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Throughput</a:t>
            </a:r>
            <a:r>
              <a:rPr lang="en" sz="3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: requests per unit time</a:t>
            </a:r>
            <a:br>
              <a:rPr lang="en" sz="3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3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M Sans"/>
              <a:buChar char="●"/>
            </a:pPr>
            <a:r>
              <a:rPr b="1" lang="en" sz="3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Consistency</a:t>
            </a:r>
            <a:r>
              <a:rPr lang="en" sz="3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: correctness/freshness of data</a:t>
            </a:r>
            <a:endParaRPr sz="3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54"/>
          <p:cNvSpPr txBox="1"/>
          <p:nvPr>
            <p:ph idx="31" type="body"/>
          </p:nvPr>
        </p:nvSpPr>
        <p:spPr>
          <a:xfrm>
            <a:off x="196950" y="196725"/>
            <a:ext cx="8650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/>
              <a:t>Availability Targets (99.9 vs 99.99)</a:t>
            </a:r>
            <a:endParaRPr b="1" sz="3000"/>
          </a:p>
        </p:txBody>
      </p:sp>
      <p:sp>
        <p:nvSpPr>
          <p:cNvPr id="366" name="Google Shape;366;p54"/>
          <p:cNvSpPr txBox="1"/>
          <p:nvPr/>
        </p:nvSpPr>
        <p:spPr>
          <a:xfrm>
            <a:off x="196950" y="1399912"/>
            <a:ext cx="8650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What the Numbers Actually Mean (</a:t>
            </a:r>
            <a:r>
              <a:rPr b="1"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Annual Downtime: 365 days</a:t>
            </a: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b="1"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●"/>
            </a:pP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99% ≈ 87.6 hours (3 days 15 hours and 36 minutes !!)</a:t>
            </a:r>
            <a:endParaRPr b="1"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●"/>
            </a:pP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99.9% ≈ 8.7 hours</a:t>
            </a:r>
            <a:endParaRPr b="1"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●"/>
            </a:pP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99.99% ≈ 52 minutes</a:t>
            </a:r>
            <a:endParaRPr b="1"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7" name="Google Shape;367;p54"/>
          <p:cNvSpPr txBox="1"/>
          <p:nvPr/>
        </p:nvSpPr>
        <p:spPr>
          <a:xfrm>
            <a:off x="370350" y="2924087"/>
            <a:ext cx="8650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Implications</a:t>
            </a:r>
            <a:endParaRPr b="1"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●"/>
            </a:pP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Redundancy (Data, Service instance etc)</a:t>
            </a:r>
            <a:endParaRPr b="1"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●"/>
            </a:pP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Automated failover</a:t>
            </a:r>
            <a:endParaRPr b="1"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●"/>
            </a:pP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Operational maturity etc.</a:t>
            </a:r>
            <a:endParaRPr b="1"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55"/>
          <p:cNvSpPr txBox="1"/>
          <p:nvPr>
            <p:ph idx="31" type="body"/>
          </p:nvPr>
        </p:nvSpPr>
        <p:spPr>
          <a:xfrm>
            <a:off x="196950" y="196725"/>
            <a:ext cx="8650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/>
              <a:t>Why Availability Is Not Free</a:t>
            </a:r>
            <a:endParaRPr b="1" sz="3000"/>
          </a:p>
        </p:txBody>
      </p:sp>
      <p:sp>
        <p:nvSpPr>
          <p:cNvPr id="374" name="Google Shape;374;p55"/>
          <p:cNvSpPr txBox="1"/>
          <p:nvPr/>
        </p:nvSpPr>
        <p:spPr>
          <a:xfrm>
            <a:off x="196950" y="1399912"/>
            <a:ext cx="865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Anti-Pattern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Let’s just aim for four nines</a:t>
            </a: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(99.99% )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5" name="Google Shape;375;p55"/>
          <p:cNvSpPr txBox="1"/>
          <p:nvPr/>
        </p:nvSpPr>
        <p:spPr>
          <a:xfrm>
            <a:off x="165868" y="2493279"/>
            <a:ext cx="8650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Concerns: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More replicas → more coordination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More regions → more latency and complexity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Higher availability → higher cost and operational burden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1" name="Google Shape;381;p56"/>
          <p:cNvSpPr txBox="1"/>
          <p:nvPr>
            <p:ph idx="31" type="body"/>
          </p:nvPr>
        </p:nvSpPr>
        <p:spPr>
          <a:xfrm>
            <a:off x="196950" y="196725"/>
            <a:ext cx="8650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/>
              <a:t>Data Retention &amp; Auditability</a:t>
            </a:r>
            <a:endParaRPr b="1" sz="3000"/>
          </a:p>
        </p:txBody>
      </p:sp>
      <p:sp>
        <p:nvSpPr>
          <p:cNvPr id="382" name="Google Shape;382;p56"/>
          <p:cNvSpPr txBox="1"/>
          <p:nvPr/>
        </p:nvSpPr>
        <p:spPr>
          <a:xfrm>
            <a:off x="196950" y="1399912"/>
            <a:ext cx="8650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Key Questions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What data(category??) must be retained?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For how long?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Who can access or delete it?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56"/>
          <p:cNvSpPr txBox="1"/>
          <p:nvPr/>
        </p:nvSpPr>
        <p:spPr>
          <a:xfrm>
            <a:off x="165868" y="2996618"/>
            <a:ext cx="8650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Trade-offs</a:t>
            </a: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Storage cost vs legal risk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Immutability vs user privacy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57"/>
          <p:cNvSpPr txBox="1"/>
          <p:nvPr>
            <p:ph idx="31" type="body"/>
          </p:nvPr>
        </p:nvSpPr>
        <p:spPr>
          <a:xfrm>
            <a:off x="196950" y="196725"/>
            <a:ext cx="8650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/>
              <a:t>From NFRs to Architecture</a:t>
            </a:r>
            <a:endParaRPr b="1" sz="3000"/>
          </a:p>
        </p:txBody>
      </p:sp>
      <p:sp>
        <p:nvSpPr>
          <p:cNvPr id="390" name="Google Shape;390;p57"/>
          <p:cNvSpPr txBox="1"/>
          <p:nvPr/>
        </p:nvSpPr>
        <p:spPr>
          <a:xfrm>
            <a:off x="196950" y="891521"/>
            <a:ext cx="8650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Business Need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Global users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Checkout must be fast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Occasional inconsistency acceptable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1" name="Google Shape;391;p57"/>
          <p:cNvSpPr txBox="1"/>
          <p:nvPr/>
        </p:nvSpPr>
        <p:spPr>
          <a:xfrm>
            <a:off x="165868" y="2446090"/>
            <a:ext cx="8650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Derived NFR</a:t>
            </a: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p95 latency &lt; 300 ms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Availability ≥ 99.9%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2" name="Google Shape;392;p57"/>
          <p:cNvSpPr txBox="1"/>
          <p:nvPr/>
        </p:nvSpPr>
        <p:spPr>
          <a:xfrm>
            <a:off x="129516" y="3636628"/>
            <a:ext cx="8650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Architecture Choices</a:t>
            </a: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Regional read replicas (Microservice, CQRS)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Eventual</a:t>
            </a: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consistency (Event-driven architecture)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CDN (for static files)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8" name="Google Shape;398;p58"/>
          <p:cNvSpPr txBox="1"/>
          <p:nvPr>
            <p:ph idx="31" type="body"/>
          </p:nvPr>
        </p:nvSpPr>
        <p:spPr>
          <a:xfrm>
            <a:off x="196950" y="196725"/>
            <a:ext cx="8650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/>
              <a:t>Common Failure Modes</a:t>
            </a:r>
            <a:endParaRPr b="1" sz="3000"/>
          </a:p>
        </p:txBody>
      </p:sp>
      <p:sp>
        <p:nvSpPr>
          <p:cNvPr id="399" name="Google Shape;399;p58"/>
          <p:cNvSpPr txBox="1"/>
          <p:nvPr/>
        </p:nvSpPr>
        <p:spPr>
          <a:xfrm>
            <a:off x="196950" y="891521"/>
            <a:ext cx="86508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Common practice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NFRs not written down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NFRs discovered after launch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Architecture copied from another company without matching context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0" name="Google Shape;400;p58"/>
          <p:cNvSpPr txBox="1"/>
          <p:nvPr/>
        </p:nvSpPr>
        <p:spPr>
          <a:xfrm>
            <a:off x="129516" y="3015319"/>
            <a:ext cx="865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Standard Practice: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Treat NFRs as first-class requirements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59"/>
          <p:cNvSpPr txBox="1"/>
          <p:nvPr>
            <p:ph idx="31" type="body"/>
          </p:nvPr>
        </p:nvSpPr>
        <p:spPr>
          <a:xfrm>
            <a:off x="196950" y="196725"/>
            <a:ext cx="8650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/>
              <a:t>Key Takeaways</a:t>
            </a:r>
            <a:endParaRPr b="1" sz="3000"/>
          </a:p>
        </p:txBody>
      </p:sp>
      <p:sp>
        <p:nvSpPr>
          <p:cNvPr id="407" name="Google Shape;407;p59"/>
          <p:cNvSpPr txBox="1"/>
          <p:nvPr/>
        </p:nvSpPr>
        <p:spPr>
          <a:xfrm>
            <a:off x="196950" y="891521"/>
            <a:ext cx="86508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NFRs encode business priorities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Trade-offs are unavoidable—make them explicit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Good engineers explain why, not just what</a:t>
            </a:r>
            <a:endParaRPr b="1" sz="21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Avoid HDA (Hype-driven Architecture)</a:t>
            </a:r>
            <a:endParaRPr b="1" sz="21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Avoid HDD (Hype-driven Development)</a:t>
            </a:r>
            <a:endParaRPr b="1" sz="21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8" name="Google Shape;408;p59"/>
          <p:cNvSpPr txBox="1"/>
          <p:nvPr/>
        </p:nvSpPr>
        <p:spPr>
          <a:xfrm>
            <a:off x="129516" y="3015319"/>
            <a:ext cx="8650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Standard Practice: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Treat NFRs as first-class requirements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Justify your architectural decisions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DM Sans"/>
              <a:buChar char="●"/>
            </a:pPr>
            <a:r>
              <a:rPr b="1" lang="en" sz="2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Justify your techstacks selection</a:t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60"/>
          <p:cNvSpPr txBox="1"/>
          <p:nvPr>
            <p:ph idx="31" type="body"/>
          </p:nvPr>
        </p:nvSpPr>
        <p:spPr>
          <a:xfrm>
            <a:off x="196950" y="196725"/>
            <a:ext cx="8650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/>
              <a:t>Practical Exercise</a:t>
            </a:r>
            <a:endParaRPr b="1" sz="3000"/>
          </a:p>
        </p:txBody>
      </p:sp>
      <p:sp>
        <p:nvSpPr>
          <p:cNvPr id="415" name="Google Shape;415;p60"/>
          <p:cNvSpPr txBox="1"/>
          <p:nvPr/>
        </p:nvSpPr>
        <p:spPr>
          <a:xfrm>
            <a:off x="196950" y="891521"/>
            <a:ext cx="86508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Scenario: </a:t>
            </a:r>
            <a:r>
              <a:rPr lang="en" sz="21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Think about the simplest module of your team project</a:t>
            </a:r>
            <a:br>
              <a:rPr lang="en" sz="21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</a:br>
            <a:br>
              <a:rPr lang="en" sz="21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lang="en" sz="21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Define:</a:t>
            </a:r>
            <a:endParaRPr b="1" sz="21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DM Sans"/>
              <a:buChar char="●"/>
            </a:pPr>
            <a:r>
              <a:rPr lang="en" sz="21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Functional requirements</a:t>
            </a:r>
            <a:endParaRPr sz="21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DM Sans"/>
              <a:buChar char="●"/>
            </a:pPr>
            <a:r>
              <a:rPr lang="en" sz="21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Non-functional requirements</a:t>
            </a:r>
            <a:endParaRPr sz="21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DM Sans"/>
              <a:buChar char="●"/>
            </a:pPr>
            <a:r>
              <a:rPr lang="en" sz="21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Logical justification of Architectural decision</a:t>
            </a:r>
            <a:endParaRPr sz="21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DM Sans"/>
              <a:buChar char="●"/>
            </a:pPr>
            <a:r>
              <a:rPr lang="en" sz="21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Logical justification of techstack selection</a:t>
            </a:r>
            <a:endParaRPr sz="21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1" name="Google Shape;421;p61"/>
          <p:cNvSpPr txBox="1"/>
          <p:nvPr>
            <p:ph idx="1" type="body"/>
          </p:nvPr>
        </p:nvSpPr>
        <p:spPr>
          <a:xfrm>
            <a:off x="364500" y="1415750"/>
            <a:ext cx="8525100" cy="18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7700"/>
              <a:t>Thank you …</a:t>
            </a:r>
            <a:endParaRPr b="1" sz="7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